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开场：其他 AI 帮你想，我们的 Agent 真的执行——SMS 真发出去，传真真送到，电话真打出来。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ChatGPT 帮你起草邮件，但它不能帮你发。Copilot 帮你总结会议，但它不知道出了事该找谁。我们做的是执行层。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Keller 是 RC 的真实客户，公开 Case Study 可查。AIR 解决了前台，我们解决后台每一步。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MuleRun 刚发布 Messages 验证了市场。但他们没有 RC 的通信 API 深度。这是我们的护城河。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两个能力相互依存：角色 Bot 是节点（深度），Agent-to-Agent 是边（宽度）。缺一不可。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演示要点：说一句话，bot 完成：目录查询 Mike 手机 → Task 创建 → SMS 发出 → CONFIRM 跟踪启动。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关键：10:05 tom-bot 自动调查，Tom 没有操作任何东西。Agent-to-Agent 路由让调查自动启动。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重点：Bot 不打电话，但它把所有上下文和联系信息准备好，Beth 看完 Card 直接点发短信，Lowe's 收到短信会主动回电。这比 bot 自动拨号更符合企业工作流。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角色 Bot 和通用 AI 的根本差异：不是模型更好，是它真正知道你是谁、你的业务规则、你的团队结构。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数字基于 Keller 规模估算。最有力的是 Lowe's 传真：之前需要人一份一份手发，现在 Karen 输入一行命令等 49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评委关注：这不是从零搭建，是在现有 RC 平台上增量构建。PHONE_CALL bridge 已经 merge 到代码里了。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评委问'你们真正建了什么'时：Control Plane 是生产代码，PHONE_CALL bridge 已 merge，Keller 设计完整可实施。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这三个时机叠加才有今天的窗口。RC 的护城河是真实的，不是 story。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路线图是实事求是的。POC 8 周完成后才谈扩展，不是愿景 PPT。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结尾要干脆有力。停顿在「做」字上一秒，然后说：因为我们有 RingCentral。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2011680" cy="347472"/>
          </a:xfrm>
          <a:prstGeom prst="rect">
            <a:avLst/>
          </a:prstGeom>
          <a:solidFill>
            <a:srgbClr val="00D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920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  Hackathon 2026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</a:rPr>
              <a:t>AgentRun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14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D4BE"/>
                </a:solidFill>
              </a:rPr>
              <a:t>让 Agent 成为你 RC 团队里真正的同事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3580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8BBCC"/>
                </a:solidFill>
              </a:rPr>
              <a:t>不只是对话，而是真正执行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840480"/>
            <a:ext cx="10972800" cy="2540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023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A7A94"/>
                </a:solidFill>
              </a:rPr>
              <a:t>Built on RingCentral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708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7A94"/>
                </a:solidFill>
              </a:rPr>
              <a:t>SMS · Fax · Phone · Task · Video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0" y="2560320"/>
            <a:ext cx="640080" cy="64008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0" y="3291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8BBCC"/>
                </a:solidFill>
              </a:rPr>
              <a:t>Role Bot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4160" y="2560320"/>
            <a:ext cx="640080" cy="640080"/>
          </a:xfrm>
          <a:prstGeom prst="rect">
            <a:avLst/>
          </a:prstGeom>
          <a:solidFill>
            <a:srgbClr val="00D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0" y="3291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8BBCC"/>
                </a:solidFill>
              </a:rPr>
              <a:t>Human→Agent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247120" y="2560320"/>
            <a:ext cx="640080" cy="640080"/>
          </a:xfrm>
          <a:prstGeom prst="rect">
            <a:avLst/>
          </a:prstGeom>
          <a:solidFill>
            <a:srgbClr val="00C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0" y="3291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8BBCC"/>
                </a:solidFill>
              </a:rPr>
              <a:t>Agent→Agent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4D4D"/>
                </a:solidFill>
              </a:rPr>
              <a:t>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AI 卡在了个人层面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2011680" cy="73152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8BBCC"/>
                </a:solidFill>
              </a:rPr>
              <a:t>每个人在用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828800"/>
            <a:ext cx="2011680" cy="73152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4640" y="1920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8BBCC"/>
                </a:solidFill>
              </a:rPr>
              <a:t>各自的 AI 对话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1828800"/>
            <a:ext cx="2011680" cy="73152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1920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8BBCC"/>
                </a:solidFill>
              </a:rPr>
              <a:t>组织协作靠人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1828800"/>
            <a:ext cx="2011680" cy="73152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9202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8BBCC"/>
                </a:solidFill>
              </a:rPr>
              <a:t>上下文丢失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9202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5A7A94"/>
                </a:solidFill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9202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5A7A94"/>
                </a:solidFill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9202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5A7A94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3017520"/>
            <a:ext cx="10972800" cy="2540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❌  AI 如何真正发 SMS 给客户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0690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❌  AI 如何真正传真给 Lowe's HQ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3832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❌  AI 如何真的帮你打出电话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0690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❌  各部门 AI 如何自动协作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A7A94"/>
                </a:solidFill>
              </a:rPr>
              <a:t>Copilot  ·  Gemini  ·  ChatGPT  解决个人生产力，没有人解决执行层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BE"/>
                </a:solidFill>
              </a:rPr>
              <a:t>真实场景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Keller Interiors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3474720" cy="9144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D4BE"/>
                </a:solidFill>
              </a:rPr>
              <a:t>33 门店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美国 15 个州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91640"/>
            <a:ext cx="3474720" cy="9144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D4BE"/>
                </a:solidFill>
              </a:rPr>
              <a:t>100-399 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地板安装服务商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691640"/>
            <a:ext cx="3474720" cy="9144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7830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D4BE"/>
                </a:solidFill>
              </a:rPr>
              <a:t>Lowe's 合作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27 年，主要收入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26080"/>
            <a:ext cx="5029200" cy="73152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0175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C86E"/>
                </a:solidFill>
              </a:rPr>
              <a:t>✅  AI Receptionist 已部署：来电等待 12min → 90sec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862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8BBCC"/>
                </a:solidFill>
              </a:rPr>
              <a:t>但路由之后，每天还在浪费：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343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CSR 手动派单 SMS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343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BBCC"/>
                </a:solidFill>
              </a:rPr>
              <a:t>5 min × 30 单 × 33 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107"/>
                </a:solidFill>
              </a:rPr>
              <a:t>= 82 staff-hours/天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92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Lowe's 传真（完工表单）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4892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BBCC"/>
                </a:solidFill>
              </a:rPr>
              <a:t>8 min × 31 份 × 33 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48920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107"/>
                </a:solidFill>
              </a:rPr>
              <a:t>= 145 staff-hours/天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40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客户投诉首次响应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54406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BBCC"/>
                </a:solidFill>
              </a:rPr>
              <a:t>平均 30–45 分钟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5440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C107"/>
                </a:solidFill>
              </a:rPr>
              <a:t>≈ 1,000 min/天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CFF"/>
                </a:solidFill>
              </a:rPr>
              <a:t>洞察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三种协作，一个空间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3566160" cy="14630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D4BE"/>
                </a:solidFill>
              </a:rPr>
              <a:t>人 ↔ 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RC Team Messaging 已有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75564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BE"/>
                </a:solidFill>
              </a:rPr>
              <a:t>✅ 现有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737360"/>
            <a:ext cx="3566160" cy="14630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8288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8CFF"/>
                </a:solidFill>
              </a:rPr>
              <a:t>人 ↔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33172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Agent 作为正式团队成员，可被 @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75564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8CFF"/>
                </a:solidFill>
              </a:rPr>
              <a:t>🔨 我们建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737360"/>
            <a:ext cx="3566160" cy="14630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8288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C86E"/>
                </a:solidFill>
              </a:rPr>
              <a:t>Agent ↔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33172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Agent 之间自动路由任务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175564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C86E"/>
                </a:solidFill>
              </a:rPr>
              <a:t>🔨 我们建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" y="3566160"/>
            <a:ext cx="10972800" cy="2540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74903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8BBCC"/>
                </a:solidFill>
              </a:rPr>
              <a:t>MuleRun Messages（刚发布）验证了这个方向，但：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519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MuleRun 的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2519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4D4D"/>
                </a:solidFill>
              </a:rPr>
              <a:t>在线程里 讨论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8920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AgentRun 的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89204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C86E"/>
                </a:solidFill>
              </a:rPr>
              <a:t>在线程里 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BE"/>
                </a:solidFill>
              </a:rPr>
              <a:t>护城河：RC 的 SMS · Fax · Team Message API  —  竞争对手没有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C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6E"/>
                </a:solidFill>
              </a:rPr>
              <a:t>我们建了什么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AgentRun = 两个核心能力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5394960" cy="41148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8CFF"/>
                </a:solidFill>
              </a:rPr>
              <a:t>① 角色定义的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7744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SOUL — 身份 · 规则 · 不可绕过的硬约束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292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Skills — 独立工作流模块（SKILL.md）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2841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Domain Memory — 业务知识（§ 分隔）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0390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Owner Memory — 个人偏好积累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7939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学习循环 — 从实操创建新技能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5488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23036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BE"/>
                </a:solidFill>
              </a:rPr>
              <a:t>8 个角色 Bot  ·  10 个 Skill 模块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691640"/>
            <a:ext cx="5394960" cy="41148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8288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C86E"/>
                </a:solidFill>
              </a:rPr>
              <a:t>② 人→Agent / Agent→Agent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37744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同一 RC 频道，三种协作共存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85292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Sarah 可以直接 @tom-bot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32841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karen-bot 自动路由给 tom-bot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80390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Agent 路由不需要人中转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27939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12 条已定义路由事件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75488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23036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BE"/>
                </a:solidFill>
              </a:rPr>
              <a:t>完整 Agent 协作网络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0807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A7A94"/>
                </a:solidFill>
              </a:rPr>
              <a:t>基础设施：FIJI  ·  AVA Control Plane  ·  K8S  ·  RingClaw  ·  RC APIs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347472"/>
          </a:xfrm>
          <a:prstGeom prst="rect">
            <a:avLst/>
          </a:prstGeom>
          <a:solidFill>
            <a:srgbClr val="00D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  LIVE DEMO 1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22860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30 秒派单闭环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47120" cy="10058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789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BE"/>
                </a:solidFill>
              </a:rPr>
              <a:t>Sarah: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051560"/>
            <a:ext cx="9784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@sarah-bot  dispatch A8821 to Mike, tomorrow 10am,
1234 Main St Atlanta GA 30309, Engineered Oak 850sqft, customer Jenkins +1 404-555-0199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A7A94"/>
                </a:solidFill>
              </a:rPr>
              <a:t>↓  3 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06040"/>
            <a:ext cx="11247120" cy="14630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CFF"/>
                </a:solidFill>
              </a:rPr>
              <a:t>sarah-bot: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697480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6E"/>
                </a:solidFill>
              </a:rPr>
              <a:t>✅  Task #T992 created — Mike Reyes · due 06/04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090672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6E"/>
                </a:solidFill>
              </a:rPr>
              <a:t>✅  SMS → Mike +14045550211 ·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483864"/>
            <a:ext cx="9326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C107"/>
                </a:solidFill>
              </a:rPr>
              <a:t>⏳  30min 无 CONFIRM → 自动提醒（cron）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5303520" cy="13716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37083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📱  Mike 手机收到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36592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</a:rPr>
              <a:t>"Install #A8821 06/04 10am.
Address: 1234 Main St Atlanta GA 30309
Reply CONFIRM to acknowledge."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297680"/>
            <a:ext cx="5303520" cy="13716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407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A8BBCC"/>
                </a:solidFill>
              </a:rPr>
              <a:t>之前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7548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8BBCC"/>
                </a:solidFill>
              </a:rPr>
              <a:t>5 分钟手工操作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4407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6E"/>
                </a:solidFill>
              </a:rPr>
              <a:t>现在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4754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C86E"/>
                </a:solidFill>
              </a:rPr>
              <a:t>3 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347472"/>
          </a:xfrm>
          <a:prstGeom prst="rect">
            <a:avLst/>
          </a:prstGeom>
          <a:solidFill>
            <a:srgbClr val="FF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  LIVE DEMO 2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2286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投诉 → 17 分钟关闭（vs 30-45 分钟）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914400" cy="7772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207008"/>
            <a:ext cx="8778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8CFF"/>
                </a:solidFill>
              </a:rPr>
              <a:t>10:02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1005840"/>
            <a:ext cx="2194560" cy="7772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1188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8BBCC"/>
                </a:solidFill>
              </a:rPr>
              <a:t>客户 SMS 到达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005840"/>
            <a:ext cx="7863840" cy="7772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7639" y="1170432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"Crew didn't show up. Worst service ever!!!"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11680"/>
            <a:ext cx="914400" cy="7772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212848"/>
            <a:ext cx="8778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8CFF"/>
                </a:solidFill>
              </a:rPr>
              <a:t>10:03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08760" y="2011680"/>
            <a:ext cx="2194560" cy="7772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6E"/>
                </a:solidFill>
              </a:rPr>
              <a:t>sarah-bot 自动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2011680"/>
            <a:ext cx="7863840" cy="7772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7639" y="2176272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安抚 SMS 发出 ✅  +  URGENT Task 创建  +  路由 tom-bot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17520"/>
            <a:ext cx="914400" cy="7772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218688"/>
            <a:ext cx="8778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8CFF"/>
                </a:solidFill>
              </a:rPr>
              <a:t>10:05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08760" y="3017520"/>
            <a:ext cx="2194560" cy="7772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3200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BE"/>
                </a:solidFill>
              </a:rPr>
              <a:t>tom-bot 自动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3017520"/>
            <a:ext cx="7863840" cy="7772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3182112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Call Log 查询 + 派工记录对比 → 调查结论发出（无需 Tom 操作）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23360"/>
            <a:ext cx="914400" cy="7772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4224528"/>
            <a:ext cx="8778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8CFF"/>
                </a:solidFill>
              </a:rPr>
              <a:t>10:17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08760" y="4023360"/>
            <a:ext cx="2194560" cy="7772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00200" y="4206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Tom 介入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0" y="4023360"/>
            <a:ext cx="7863840" cy="7772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77639" y="4187952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读调查结论，致电 Mike 确认（30 秒）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29200"/>
            <a:ext cx="914400" cy="7772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5230368"/>
            <a:ext cx="8778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8CFF"/>
                </a:solidFill>
              </a:rPr>
              <a:t>10:19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08760" y="5029200"/>
            <a:ext cx="2194560" cy="7772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00200" y="52120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6E"/>
                </a:solidFill>
              </a:rPr>
              <a:t>sarah-bot 执行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0" y="5029200"/>
            <a:ext cx="7863840" cy="7772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77639" y="5193792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道歉 SMS + $50 credit 发出 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172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D4BE"/>
                </a:solidFill>
              </a:rPr>
              <a:t>客户自动安抚：51 秒  ·  人只做最终决策  ·  全程审计轨迹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C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347472"/>
          </a:xfrm>
          <a:prstGeom prst="rect">
            <a:avLst/>
          </a:prstGeom>
          <a:solidFill>
            <a:srgbClr val="00C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  LIVE DEMO 3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2286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Bot 准备完整上下文，一步发短信安排回电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47120" cy="5943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515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Beth: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"Lowe's HQ 双路升级，帮我处理联络"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6276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5A7A94"/>
                </a:solidFill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57400"/>
            <a:ext cx="6400800" cy="32004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5943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BBCC"/>
                </a:solidFill>
              </a:rPr>
              <a:t>📋  Adaptive Card（RC 客户端内渲染）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C107"/>
                </a:solidFill>
              </a:rPr>
              <a:t>⚠️ 需要行动：A8810 双路升级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6324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BBCC"/>
                </a:solidFill>
              </a:rPr>
              <a:t>Lowe's 质量标记: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3063240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REF-2026-0603-11 · SOP §7.3 · 截止 06/10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7472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BBCC"/>
                </a:solidFill>
              </a:rPr>
              <a:t>客户投诉: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3474720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Jenkins no-show · sarah-bot 处理中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8862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BBCC"/>
                </a:solidFill>
              </a:rPr>
              <a:t>推荐联系: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886200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Lowe's Compliance  +1 919-555-0188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976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BBCC"/>
                </a:solidFill>
              </a:rPr>
              <a:t>建议话术: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4297680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"Aware of A8810, Tom handling. Extension to 06/12?"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846320"/>
            <a:ext cx="2560320" cy="32004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89204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发短信给 Lowe's 安排回电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83280" y="4846320"/>
            <a:ext cx="2377440" cy="3200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29000" y="48920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8BBCC"/>
                </a:solidFill>
              </a:rPr>
              <a:t>通知 Karen 我会处理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0574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Beth 点击「发短信给 Lowe's」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514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A7A94"/>
                </a:solidFill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2926080"/>
            <a:ext cx="4572000" cy="2011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301752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BBCC"/>
                </a:solidFill>
              </a:rPr>
              <a:t>📱 Lowe's HQ 收到 SMS：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401568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</a:rPr>
              <a:t>"Hi, Beth Owens from Keller.
Following up on A8810 (REF-2026-0603-11).
Can we schedule a call today?
Available 2-5pm ET.
Direct: +1 404-555-0001."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983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6E"/>
                </a:solidFill>
              </a:rPr>
              <a:t>✅ SMS delivered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" y="5715000"/>
            <a:ext cx="10972800" cy="25400"/>
          </a:xfrm>
          <a:prstGeom prst="rect">
            <a:avLst/>
          </a:prstGeom>
          <a:solidFill>
            <a:srgbClr val="00D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83387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7A94"/>
                </a:solidFill>
              </a:rPr>
              <a:t>为什么比直接打更好：SMS 是异步的  ·  对方有准备  ·  Beth 有充分上下文再打  ·  任意 RC 客户端可用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9107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BE"/>
                </a:solidFill>
              </a:rPr>
              <a:t>护城河：RC Team Message + SMS API  —  一张 Card 就能完成跨部门信息传递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角色定义 Bot 的独特价值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560320" cy="5029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70432"/>
            <a:ext cx="23774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0" y="1097280"/>
            <a:ext cx="3840480" cy="50292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117043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A8BBCC"/>
                </a:solidFill>
              </a:rPr>
              <a:t>通用 AI（Copilot / GPT）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097280"/>
            <a:ext cx="3840480" cy="50292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117043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8CFF"/>
                </a:solidFill>
              </a:rPr>
              <a:t>AgentRun 角色 Bot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2560320" cy="658368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856232"/>
            <a:ext cx="23774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业务上下文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1691640"/>
            <a:ext cx="3840480" cy="658368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185623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每次对话从零解释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1691640"/>
            <a:ext cx="3840480" cy="658368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50608" y="185623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C86E"/>
                </a:solidFill>
              </a:rPr>
              <a:t>SOUL + DOMAIN.md 内置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468880"/>
            <a:ext cx="25603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633472"/>
            <a:ext cx="23774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规则执行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2468880"/>
            <a:ext cx="384048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18688" y="263347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可被提示词绕过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2468880"/>
            <a:ext cx="384048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50608" y="263347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C86E"/>
                </a:solidFill>
              </a:rPr>
              <a:t>SOUL 硬规则，真正不可绕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46120"/>
            <a:ext cx="2560320" cy="658368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410712"/>
            <a:ext cx="23774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组织结构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08960" y="3246120"/>
            <a:ext cx="3840480" cy="658368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18688" y="341071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不知道找谁升级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3246120"/>
            <a:ext cx="3840480" cy="658368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50608" y="341071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C86E"/>
                </a:solidFill>
              </a:rPr>
              <a:t>知道出了事该找谁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023360"/>
            <a:ext cx="256032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187952"/>
            <a:ext cx="23774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员工离职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08960" y="4023360"/>
            <a:ext cx="384048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18688" y="41879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知识随人消失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4023360"/>
            <a:ext cx="3840480" cy="65836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50608" y="41879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C86E"/>
                </a:solidFill>
              </a:rPr>
              <a:t>机构记忆沉淀在 Bot 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00600"/>
            <a:ext cx="2560320" cy="658368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65192"/>
            <a:ext cx="23774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持续学习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08960" y="4800600"/>
            <a:ext cx="3840480" cy="658368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18688" y="496519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每次重新开始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4800600"/>
            <a:ext cx="3840480" cy="658368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50608" y="496519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C86E"/>
                </a:solidFill>
              </a:rPr>
              <a:t>Skills 学习循环，越用越准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D4BE"/>
                </a:solidFill>
              </a:rPr>
              <a:t>HR bot 永远不会把员工请假原因发到群里  ·  Finance bot 永远不会在没有审批的情况下付款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107"/>
                </a:solidFill>
              </a:rPr>
              <a:t>商业价值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Keller · 33 门店 · 150 名 CSR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5486400" cy="12344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70992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一张派单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13055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之前：5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13055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6E"/>
                </a:solidFill>
              </a:rPr>
              <a:t>之后：3 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70992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C107"/>
                </a:solidFill>
              </a:rPr>
              <a:t>99%↓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600200"/>
            <a:ext cx="5486400" cy="12344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70992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Lowe's 传真批次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13055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之前：4-5 小时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13055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6E"/>
                </a:solidFill>
              </a:rPr>
              <a:t>之后：等 49 分钟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170992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C107"/>
                </a:solidFill>
              </a:rPr>
              <a:t>83%↓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5486400" cy="12344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1729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投诉首次响应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59359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之前：30-45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59359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6E"/>
                </a:solidFill>
              </a:rPr>
              <a:t>之后：51 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17296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C107"/>
                </a:solidFill>
              </a:rPr>
              <a:t>97%↓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063240"/>
            <a:ext cx="5486400" cy="12344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1729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每日门店摘要×33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59359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之前：16.5h/天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59359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6E"/>
                </a:solidFill>
              </a:rPr>
              <a:t>之后：0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317296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C107"/>
                </a:solidFill>
              </a:rPr>
              <a:t>100%↓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526280"/>
            <a:ext cx="5486400" cy="12344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463600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员工请假申请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505663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之前：邮件往返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05663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6E"/>
                </a:solidFill>
              </a:rPr>
              <a:t>之后：当天 DM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63600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C107"/>
                </a:solidFill>
              </a:rPr>
              <a:t>当天完成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4526280"/>
            <a:ext cx="5486400" cy="12344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3952" y="463600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分包商月度付款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2" y="505663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8BBCC"/>
                </a:solidFill>
              </a:rPr>
              <a:t>之前：半天 Excel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505663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6E"/>
                </a:solidFill>
              </a:rPr>
              <a:t>之后：Bot 汇总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463600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C107"/>
                </a:solidFill>
              </a:rPr>
              <a:t>90%↓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1908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C107"/>
                </a:solidFill>
              </a:rPr>
              <a:t>≈  80+ staff-hours/天 节省  ·  相当于每天少雇 10 个人做重复性工作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A7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8BBCC"/>
                </a:solidFill>
              </a:rP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基于现有 RC 平台，增量构建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1645920" cy="914400"/>
          </a:xfrm>
          <a:prstGeom prst="rect">
            <a:avLst/>
          </a:prstGeom>
          <a:solidFill>
            <a:srgbClr val="00D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FIJI UI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45920"/>
            <a:ext cx="9464040" cy="9144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1901952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AvaBotOnboarding  ·  AvaClientActionBridge → PHONE_CALL  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7860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A7A94"/>
                </a:solidFill>
              </a:rPr>
              <a:t>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88920"/>
            <a:ext cx="1645920" cy="91440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AVA Control Plane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2788920"/>
            <a:ext cx="9464040" cy="9144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3044952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Bot Registry  ·  Token Pool  ·  Lifecycle  ·  Action Events  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2160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A7A94"/>
                </a:solidFill>
              </a:rPr>
              <a:t>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1645920" cy="91440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6052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RingClaw Runtime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3931920"/>
            <a:ext cx="9464040" cy="9144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77440" y="4187952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SOUL + SKILL  ·  Agent-to-Agent  ·  RC Actions  ·  K8S Pod/Bot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6460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A7A94"/>
                </a:solidFill>
              </a:rPr>
              <a:t>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074920"/>
            <a:ext cx="1645920" cy="914400"/>
          </a:xfrm>
          <a:prstGeom prst="rect">
            <a:avLst/>
          </a:prstGeom>
          <a:solidFill>
            <a:srgbClr val="00C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30352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RC Platform APIs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80" y="5074920"/>
            <a:ext cx="9464040" cy="9144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5330952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SMS  ·  Fax  ·  Phone  ·  Task  ·  Note  ·  Video  ·  CallLog  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A7A94"/>
                </a:solidFill>
              </a:rPr>
              <a:t>新增代码量：~500 行  ·  其余全部复用现有平台能力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C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6E"/>
                </a:solidFill>
              </a:rPr>
              <a:t>Hackathon 完成情况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已完成  vs  剩余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6858000" cy="45720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C86E"/>
                </a:solidFill>
              </a:rPr>
              <a:t>✅  已完成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12848"/>
            <a:ext cx="6492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✓  8 个角色 Bot 完整 SOUL + config 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61488"/>
            <a:ext cx="6492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✓  10 个 Skill 模块（SKILL.md，Hermes 格式）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10128"/>
            <a:ext cx="6492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✓  12 条 Agent-to-Agent 路由事件定义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58768"/>
            <a:ext cx="6492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✓  PHONE_CALL → FIJI directCall 完整打通  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07408"/>
            <a:ext cx="6492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✓  AVA Control Plane 全量 API（已实现）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56048"/>
            <a:ext cx="6492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✓  Keller POC 8 周实施路径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04688"/>
            <a:ext cx="6492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✓  编译错误修复（代码可构建）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1600200"/>
            <a:ext cx="4297680" cy="457200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169164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C107"/>
                </a:solidFill>
              </a:rPr>
              <a:t>📌  剩余（代码层）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212848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·  Inbound SMS/Fax wire（~150 行）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944368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·  OOB 审批反向通道（~200 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675887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  ·  Frozen Snapshot 优化（~100 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D4BE"/>
                </a:solidFill>
              </a:rPr>
              <a:t>剩余约 500 行代码  ·  技术路径清晰，无未知风险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为什么是现在，为什么是 RC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822960" cy="128016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1627631"/>
            <a:ext cx="7863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7320" y="1280160"/>
            <a:ext cx="10241280" cy="12801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200" y="1444751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8CFF"/>
                </a:solidFill>
              </a:rPr>
              <a:t>MuleRun 验证了市场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93852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BBCC"/>
                </a:solidFill>
              </a:rPr>
              <a:t>刚发布 Messages，企业 AI 协作需求已被验证
但 MuleRun 没有 RC 的通信 API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926080"/>
            <a:ext cx="822960" cy="1280160"/>
          </a:xfrm>
          <a:prstGeom prst="rect">
            <a:avLst/>
          </a:prstGeom>
          <a:solidFill>
            <a:srgbClr val="00D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3273552"/>
            <a:ext cx="7863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17320" y="2926080"/>
            <a:ext cx="10241280" cy="12801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3090672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D4BE"/>
                </a:solidFill>
              </a:rPr>
              <a:t>RC 是唯一有这些 API 的平台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58444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BBCC"/>
                </a:solidFill>
              </a:rPr>
              <a:t>SMS · Fax · Phone · Task · Note · Video
竞争对手做「讨论」，我们做「执行」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572000"/>
            <a:ext cx="822960" cy="1280160"/>
          </a:xfrm>
          <a:prstGeom prst="rect">
            <a:avLst/>
          </a:prstGeom>
          <a:solidFill>
            <a:srgbClr val="00C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4919472"/>
            <a:ext cx="7863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4572000"/>
            <a:ext cx="10241280" cy="12801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4736592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C86E"/>
                </a:solidFill>
              </a:rPr>
              <a:t>AI Receptionist 已教育了市场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523036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BBCC"/>
                </a:solidFill>
              </a:rPr>
              <a:t>Keller：12min → 90sec，客户已接受 AI
下一步：内部协作也要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" y="6400800"/>
            <a:ext cx="10972800" cy="25400"/>
          </a:xfrm>
          <a:prstGeom prst="rect">
            <a:avLst/>
          </a:prstGeom>
          <a:solidFill>
            <a:srgbClr val="00D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RingEX  +  AI Receptionist（前台）  +  AgentRun（后台）  =  企业通信完整 AI 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CFF"/>
                </a:solidFill>
              </a:rPr>
              <a:t>路线图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从 POC 到产品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00200"/>
            <a:ext cx="3657600" cy="68580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Q3 2026
POC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3657600" cy="347472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514600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 Keller 5 人 Atlanta 试点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26440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 Case 1-6 全部跑通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014215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 Inbound wire → Case 7/8 上线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4764024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 Keller 扩展 33 门店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600200"/>
            <a:ext cx="3657600" cy="685800"/>
          </a:xfrm>
          <a:prstGeom prst="rect">
            <a:avLst/>
          </a:prstGeom>
          <a:solidFill>
            <a:srgbClr val="00D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916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Q4 2026
深度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2377440"/>
            <a:ext cx="3657600" cy="347472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2514600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 Frozen Snapshot + Skills 学习循环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326440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 OOB 审批入 FIJI（不需要 terminal）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4014215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 HR/Finance Bot 全量上线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1600200"/>
            <a:ext cx="3657600" cy="685800"/>
          </a:xfrm>
          <a:prstGeom prst="rect">
            <a:avLst/>
          </a:prstGeom>
          <a:solidFill>
            <a:srgbClr val="00C8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16916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2027 Q1
产品化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2377440"/>
            <a:ext cx="3657600" cy="347472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2514600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 SOUL/Memory 管理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326440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 Skills Marketplace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5632" y="4014215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 其他 RC 客户自助注册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4764024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 App Gallery 上架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" y="6263640"/>
            <a:ext cx="10972800" cy="2540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0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D4BE"/>
                </a:solidFill>
              </a:rPr>
              <a:t>North Star：每个 RC 企业用户，都有一个懂自己业务的 Agent 同事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A8BBCC"/>
                </a:solidFill>
              </a:rPr>
              <a:t>其他 AI 助手帮你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29968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i="0">
                <a:solidFill>
                  <a:srgbClr val="A8BBCC"/>
                </a:solidFill>
              </a:rPr>
              <a:t>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3566160"/>
            <a:ext cx="11430000" cy="25400"/>
          </a:xfrm>
          <a:prstGeom prst="rect">
            <a:avLst/>
          </a:prstGeom>
          <a:solidFill>
            <a:srgbClr val="00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</a:rPr>
              <a:t>AgentRun 帮你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i="0">
                <a:solidFill>
                  <a:srgbClr val="00D4BE"/>
                </a:solidFill>
              </a:rPr>
              <a:t>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8BBCC"/>
                </a:solidFill>
              </a:rPr>
              <a:t>因为我们有 RingCentral  ·  SMS 真发出去  ·  传真真送到  ·  电话真打出来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D4BE"/>
                </a:solidFill>
              </a:rPr>
              <a:t>Agent 不只是你的助手，是你团队里的同事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